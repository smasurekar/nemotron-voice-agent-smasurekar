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Logic view. The frontend LLM calls delegate() once per turn. The Interaction Manager maps backend state and the request argument to a Hermes call. The filler is spoken at once; the answer is spoken when the backend finishes.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Detailed system view: three processes (voice server Py 3.12, gateway Py 3.12, Hermes worker Py 3.14) connected by a WebSocket and a Unix socket.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workflow.csv (12 rows), checked by test_fdh_workflow_table.py.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Voice Frontend Delegation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to a Hermes Backend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Architecture of the nemotron-voice-agent prototype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src/prototypes/voice_delegation_hermes_agent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75488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16283D"/>
          </a:solidFill>
          <a:ln w="25400">
            <a:solidFill>
              <a:srgbClr val="3987E5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Frontend</a:t>
            </a:r>
            <a:endParaRPr lang="en-US" sz="16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nemotron-3.5-lightning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97680" y="475488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13302A"/>
          </a:solidFill>
          <a:ln w="25400">
            <a:solidFill>
              <a:srgbClr val="2BB583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Gateway</a:t>
            </a:r>
            <a:endParaRPr lang="en-US" sz="16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per-session state machine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3840" y="475488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3A2418"/>
          </a:solidFill>
          <a:ln w="25400">
            <a:solidFill>
              <a:srgbClr val="D95926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Backend</a:t>
            </a:r>
            <a:endParaRPr lang="en-US" sz="16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Hermes AIAgent, nemotron-3-ultra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 fast frontend LLM keeps the conversation going; a reasoning backend does the work in the background.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371600" cy="3200400"/>
          </a:xfrm>
          <a:prstGeom prst="roundRect">
            <a:avLst>
              <a:gd name="adj" fmla="val 5333"/>
            </a:avLst>
          </a:prstGeom>
          <a:solidFill>
            <a:srgbClr val="2A2B2D"/>
          </a:solidFill>
          <a:ln w="25400">
            <a:solidFill>
              <a:srgbClr val="8F8E8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User</a:t>
            </a:r>
            <a:endParaRPr lang="en-US" sz="16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Speaks and listens</a:t>
            </a:r>
            <a:endParaRPr lang="en-US" sz="16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Executes the backend's tools on the client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450592" y="137160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16283D"/>
          </a:solidFill>
          <a:ln w="25400">
            <a:solidFill>
              <a:srgbClr val="3987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87752" y="143560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Frontend LLM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nemotron-3.5-lightning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Non-reasoning LLM · every turn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87752" y="205740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20262E"/>
          </a:solidFill>
          <a:ln w="12700">
            <a:solidFill>
              <a:srgbClr val="3A4048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delegate(delegate, filler_text, request)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one forced call per user turn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87752" y="2670048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20262E"/>
          </a:solidFill>
          <a:ln w="12700">
            <a:solidFill>
              <a:srgbClr val="3A4048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delegate: true | false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true: backend acts; false: answer directly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87752" y="3282696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20262E"/>
          </a:solidFill>
          <a:ln w="12700">
            <a:solidFill>
              <a:srgbClr val="3A4048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filler_text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spoken to the user at once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87752" y="3895344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20262E"/>
          </a:solidFill>
          <a:ln w="12700">
            <a:solidFill>
              <a:srgbClr val="3A4048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request: task | status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new work or correction | progress question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15584" y="137160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13302A"/>
          </a:solidFill>
          <a:ln w="25400">
            <a:solidFill>
              <a:srgbClr val="2BB5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52744" y="143560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Interaction Manager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backend state × request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52744" y="205740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20262E"/>
          </a:solidFill>
          <a:ln w="12700">
            <a:solidFill>
              <a:srgbClr val="3A4048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Idle or no session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task or status → run_conversation()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52744" y="274320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20262E"/>
          </a:solidFill>
          <a:ln w="12700">
            <a:solidFill>
              <a:srgbClr val="3A4048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Working · request = task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steer() / redirect()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52744" y="342900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20262E"/>
          </a:solidFill>
          <a:ln w="12700">
            <a:solidFill>
              <a:srgbClr val="3A4048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Working · request = status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get_activity_summary()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52744" y="4114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request changes the Hermes call only while the backend is working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80576" y="137160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3A2418"/>
          </a:solidFill>
          <a:ln w="25400">
            <a:solidFill>
              <a:srgbClr val="D959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17736" y="143560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Hermes backend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nemotron-3-ultra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Reasoning LLM · Hermes AIAgent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17736" y="205740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20262E"/>
          </a:solidFill>
          <a:ln w="12700">
            <a:solidFill>
              <a:srgbClr val="3A4048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Reasons and plans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thinking enabled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17736" y="288036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20262E"/>
          </a:solidFill>
          <a:ln w="12700">
            <a:solidFill>
              <a:srgbClr val="3A4048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Calls tools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executed on the client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17736" y="370332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20262E"/>
          </a:solidFill>
          <a:ln w="12700">
            <a:solidFill>
              <a:srgbClr val="3A4048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Returns</a:t>
            </a:r>
            <a:endParaRPr lang="en-US" sz="12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answer or progress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28800" y="2468880"/>
            <a:ext cx="621792" cy="0"/>
          </a:xfrm>
          <a:prstGeom prst="line">
            <a:avLst/>
          </a:prstGeom>
          <a:noFill/>
          <a:ln w="25400">
            <a:solidFill>
              <a:srgbClr val="D6D5CD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828800" y="201168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speech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93792" y="2468880"/>
            <a:ext cx="621792" cy="0"/>
          </a:xfrm>
          <a:prstGeom prst="line">
            <a:avLst/>
          </a:prstGeom>
          <a:noFill/>
          <a:ln w="25400">
            <a:solidFill>
              <a:srgbClr val="D6D5CD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193792" y="201168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delegate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= true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558784" y="2468880"/>
            <a:ext cx="621792" cy="0"/>
          </a:xfrm>
          <a:prstGeom prst="line">
            <a:avLst/>
          </a:prstGeom>
          <a:noFill/>
          <a:ln w="25400">
            <a:solidFill>
              <a:srgbClr val="D6D5CD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8558784" y="201168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Hermes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call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521208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2A2B2D"/>
          </a:solidFill>
          <a:ln w="25400">
            <a:solidFill>
              <a:srgbClr val="8F8E86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User hears</a:t>
            </a:r>
            <a:endParaRPr lang="en-US" sz="14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speech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108960" y="521208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4A2E1F"/>
          </a:solidFill>
          <a:ln w="25400">
            <a:solidFill>
              <a:srgbClr val="D95926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Output queue → speech</a:t>
            </a:r>
            <a:endParaRPr lang="en-US" sz="14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one response at a time; never over the user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80576" y="521208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3A2418"/>
          </a:solidFill>
          <a:ln w="25400">
            <a:solidFill>
              <a:srgbClr val="D95926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Answer or status</a:t>
            </a:r>
            <a:endParaRPr lang="en-US" sz="14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status is put into words by the frontend LLM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840480" y="4572000"/>
            <a:ext cx="0" cy="640080"/>
          </a:xfrm>
          <a:prstGeom prst="line">
            <a:avLst/>
          </a:prstGeom>
          <a:noFill/>
          <a:ln w="25400">
            <a:solidFill>
              <a:srgbClr val="D6D5CD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3931920" y="4754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filler_text, spoken at once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460736" y="4572000"/>
            <a:ext cx="0" cy="640080"/>
          </a:xfrm>
          <a:prstGeom prst="line">
            <a:avLst/>
          </a:prstGeom>
          <a:noFill/>
          <a:ln w="25400">
            <a:solidFill>
              <a:srgbClr val="D6D5CD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H="1">
            <a:off x="6766560" y="5623560"/>
            <a:ext cx="2414016" cy="0"/>
          </a:xfrm>
          <a:prstGeom prst="line">
            <a:avLst/>
          </a:prstGeom>
          <a:noFill/>
          <a:ln w="25400">
            <a:solidFill>
              <a:srgbClr val="D6D5CD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H="1">
            <a:off x="1828800" y="5623560"/>
            <a:ext cx="1280160" cy="0"/>
          </a:xfrm>
          <a:prstGeom prst="line">
            <a:avLst/>
          </a:prstGeom>
          <a:noFill/>
          <a:ln w="25400">
            <a:solidFill>
              <a:srgbClr val="D6D5CD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Fast path: the user hears a filler immediately. Slow path: the backend works in the background and its answer is spoken when ready.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The delegate tool and the Hermes calls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The frontend LLM calls delegate() once per turn; the gateway turns it into a Hermes call.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03120"/>
                <a:gridCol w="3840480"/>
                <a:gridCol w="3657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Argument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Type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Meaning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Hermes side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delegate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boolean, required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true: the backend must act on this turn. false: nothing for the backend (thanks, backchannel)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false: no Hermes call. true: the call is chosen from the table below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filler_text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string, required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What the user hears at once, e.g. "Let me check that for you"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Not a Hermes call. Spoken immediately; reaches Hermes as context only if the user heard it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request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task | status, default task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task: new work, follow-up or correction. status: "how is it going?"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Changes the Hermes call only while the backend is working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Hermes call by backend state (delegate = true)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51960"/>
          <a:ext cx="112471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297680"/>
                <a:gridCol w="4297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Backend state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request = task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request = status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No session yet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new AIAgent, then run_conversation()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same: a new run with this query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Idle (mid-conversation)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run_conversation() on the existing session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same: a follow-up run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Working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redirect() during a model call, otherwise steer()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get_activity_summary(); the running task is not disturbed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Appendix: detailed system 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20040" y="118872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2A2B2D"/>
          </a:solidFill>
          <a:ln w="25400">
            <a:solidFill>
              <a:srgbClr val="8F8E86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Realtime client</a:t>
            </a:r>
            <a:endParaRPr lang="en-US" sz="13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τ³-voice (:8775) or browser page (:8776)</a:t>
            </a:r>
            <a:endParaRPr lang="en-US" sz="13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mic audio, session.update</a:t>
            </a:r>
            <a:endParaRPr lang="en-US" sz="13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runs function_call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365760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2A2038"/>
          </a:solidFill>
          <a:ln w="25400">
            <a:solidFill>
              <a:srgbClr val="A07FD6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Riva NIM</a:t>
            </a:r>
            <a:endParaRPr lang="en-US" sz="13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ASR (streaming) and TTS</a:t>
            </a:r>
            <a:endParaRPr lang="en-US" sz="13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service: nemo-speech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40280" y="1005840"/>
            <a:ext cx="4754880" cy="4709160"/>
          </a:xfrm>
          <a:prstGeom prst="roundRect">
            <a:avLst>
              <a:gd name="adj" fmla="val 2330"/>
            </a:avLst>
          </a:prstGeom>
          <a:solidFill>
            <a:srgbClr val="16283D"/>
          </a:solidFill>
          <a:ln w="25400">
            <a:solidFill>
              <a:srgbClr val="3987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50008" y="1060704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Voice server · Python 3.12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server.py plugs the turn manager into build_app via SessionHooks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31720" y="1600200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20262E"/>
          </a:solidFill>
          <a:ln w="12700">
            <a:solidFill>
              <a:srgbClr val="3A4048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Voice package shell: WS /v1/realtime, VAD + 800 ms end of turn, ASR/TTS clients, transcript normalization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31720" y="2240280"/>
            <a:ext cx="4572000" cy="2286000"/>
          </a:xfrm>
          <a:prstGeom prst="roundRect">
            <a:avLst>
              <a:gd name="adj" fmla="val 3200"/>
            </a:avLst>
          </a:prstGeom>
          <a:solidFill>
            <a:srgbClr val="20262E"/>
          </a:solidFill>
          <a:ln w="19050">
            <a:solidFill>
              <a:srgbClr val="3987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22860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DelegationTurnManager: three lanes decoupled in time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395728" y="2606040"/>
            <a:ext cx="1444752" cy="1508760"/>
          </a:xfrm>
          <a:prstGeom prst="roundRect">
            <a:avLst>
              <a:gd name="adj" fmla="val 5063"/>
            </a:avLst>
          </a:prstGeom>
          <a:solidFill>
            <a:srgbClr val="1D3858"/>
          </a:solidFill>
          <a:ln w="12700">
            <a:solidFill>
              <a:srgbClr val="3987E5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Frontend lane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Decider: forced delegate() call, repair, hedge, guards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Spelling hold (M3.2)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904488" y="2606040"/>
            <a:ext cx="1444752" cy="1508760"/>
          </a:xfrm>
          <a:prstGeom prst="roundRect">
            <a:avLst>
              <a:gd name="adj" fmla="val 5063"/>
            </a:avLst>
          </a:prstGeom>
          <a:solidFill>
            <a:srgbClr val="1A4036"/>
          </a:solidFill>
          <a:ln w="12700">
            <a:solidFill>
              <a:srgbClr val="2BB583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Backend lane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BackendLink (WS)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ToolRelay: batch, screen args, result hints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Status verbalizer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13248" y="2606040"/>
            <a:ext cx="1444752" cy="1508760"/>
          </a:xfrm>
          <a:prstGeom prst="roundRect">
            <a:avLst>
              <a:gd name="adj" fmla="val 5063"/>
            </a:avLst>
          </a:prstGeom>
          <a:solidFill>
            <a:srgbClr val="4A2E1F"/>
          </a:solidFill>
          <a:ln w="12700">
            <a:solidFill>
              <a:srgbClr val="D95926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Output lane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OutputQueue: one response, never over the user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Clean answers (G2)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Proactive status (M1)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423160" y="417880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Shared transcript: user / frontend / controller entries; playback outcome heard · partial · not_heard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4617720"/>
            <a:ext cx="4572000" cy="1005840"/>
          </a:xfrm>
          <a:prstGeom prst="roundRect">
            <a:avLst>
              <a:gd name="adj" fmla="val 7273"/>
            </a:avLst>
          </a:prstGeom>
          <a:solidFill>
            <a:srgbClr val="20262E"/>
          </a:solidFill>
          <a:ln w="12700">
            <a:solidFill>
              <a:srgbClr val="3A4048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Configuration and fingerprint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profiles/*.yaml → delegation_agent.yaml → voice/*.yaml; prompts.yaml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Fix switches: M1 · M3 · G1 · G2 · I3/I4 (M2 off)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Logged per session: features, prompt hashes, session_tools_sha256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60920" y="1005840"/>
            <a:ext cx="2377440" cy="4709160"/>
          </a:xfrm>
          <a:prstGeom prst="roundRect">
            <a:avLst>
              <a:gd name="adj" fmla="val 4615"/>
            </a:avLst>
          </a:prstGeom>
          <a:solidFill>
            <a:srgbClr val="13302A"/>
          </a:solidFill>
          <a:ln w="25400">
            <a:solidFill>
              <a:srgbClr val="2BB5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70648" y="1060704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Backend gateway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Python 3.12 · sidecar/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52360" y="160020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20262E"/>
          </a:solidFill>
          <a:ln w="12700">
            <a:solidFill>
              <a:srgbClr val="3A4048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gateway_server.py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WS /v1/backend · /health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452360" y="2240280"/>
            <a:ext cx="2194560" cy="1920240"/>
          </a:xfrm>
          <a:prstGeom prst="roundRect">
            <a:avLst>
              <a:gd name="adj" fmla="val 3810"/>
            </a:avLst>
          </a:prstGeom>
          <a:solidFill>
            <a:srgbClr val="20262E"/>
          </a:solidFill>
          <a:ln w="19050">
            <a:solidFill>
              <a:srgbClr val="2BB583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BackendController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State machine: NO_SESSION → IDLE ⇄ WORKING → CLOSING → CLOSED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ContextQueue: exactly-once history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Settle + outcome table; watchdog 330 s; respawn ≤ 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52360" y="425196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20262E"/>
          </a:solidFill>
          <a:ln w="12700">
            <a:solidFill>
              <a:srgbClr val="3A4048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Backend prompt templates</a:t>
            </a:r>
            <a:endParaRPr lang="en-US" sz="11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prompts.backend.yaml + prompt_features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52360" y="498348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20262E"/>
          </a:solidFill>
          <a:ln w="12700">
            <a:solidFill>
              <a:srgbClr val="3A4048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WorkerPool</a:t>
            </a:r>
            <a:endParaRPr lang="en-US" sz="11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spawn · stop · kill · HERMES_HOME per worker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104120" y="1005840"/>
            <a:ext cx="1764792" cy="4709160"/>
          </a:xfrm>
          <a:prstGeom prst="roundRect">
            <a:avLst>
              <a:gd name="adj" fmla="val 6218"/>
            </a:avLst>
          </a:prstGeom>
          <a:solidFill>
            <a:srgbClr val="3A2418"/>
          </a:solidFill>
          <a:ln w="25400">
            <a:solidFill>
              <a:srgbClr val="D959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13848" y="1060704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Hermes worker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Py 3.14 · per session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177272" y="1600200"/>
            <a:ext cx="1618488" cy="914400"/>
          </a:xfrm>
          <a:prstGeom prst="roundRect">
            <a:avLst>
              <a:gd name="adj" fmla="val 8000"/>
            </a:avLst>
          </a:prstGeom>
          <a:solidFill>
            <a:srgbClr val="20262E"/>
          </a:solidFill>
          <a:ln w="12700">
            <a:solidFill>
              <a:srgbClr val="3A4048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worker_main + WorkerCore</a:t>
            </a:r>
            <a:endParaRPr lang="en-US" sz="10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Unix socket, JSON lines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177272" y="2606040"/>
            <a:ext cx="1618488" cy="777240"/>
          </a:xfrm>
          <a:prstGeom prst="roundRect">
            <a:avLst>
              <a:gd name="adj" fmla="val 9412"/>
            </a:avLst>
          </a:prstGeom>
          <a:solidFill>
            <a:srgbClr val="20262E"/>
          </a:solidFill>
          <a:ln w="12700">
            <a:solidFill>
              <a:srgbClr val="3A4048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ToolFutures</a:t>
            </a:r>
            <a:endParaRPr lang="en-US" sz="10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tool blocks until tool.result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177272" y="3474720"/>
            <a:ext cx="1618488" cy="868680"/>
          </a:xfrm>
          <a:prstGeom prst="roundRect">
            <a:avLst>
              <a:gd name="adj" fmla="val 8421"/>
            </a:avLst>
          </a:prstGeom>
          <a:solidFill>
            <a:srgbClr val="20262E"/>
          </a:solidFill>
          <a:ln w="12700">
            <a:solidFill>
              <a:srgbClr val="3A4048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hermes_adapter</a:t>
            </a:r>
            <a:endParaRPr lang="en-US" sz="10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only Hermes import; toolset fdh_client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177272" y="4434840"/>
            <a:ext cx="1618488" cy="1188720"/>
          </a:xfrm>
          <a:prstGeom prst="roundRect">
            <a:avLst>
              <a:gd name="adj" fmla="val 6154"/>
            </a:avLst>
          </a:prstGeom>
          <a:solidFill>
            <a:srgbClr val="20262E"/>
          </a:solidFill>
          <a:ln w="19050">
            <a:solidFill>
              <a:srgbClr val="D95926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Hermes AIAgent</a:t>
            </a:r>
            <a:endParaRPr lang="en-US" sz="10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run_conversation, steer, redirect, get_activity_summary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926080" y="603504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2A2038"/>
          </a:solidFill>
          <a:ln w="25400">
            <a:solidFill>
              <a:srgbClr val="A07FD6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Frontend LLM: nemotron-3.5-lightning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OpenAI-compatible, thinking off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738360" y="6035040"/>
            <a:ext cx="2130552" cy="640080"/>
          </a:xfrm>
          <a:prstGeom prst="roundRect">
            <a:avLst>
              <a:gd name="adj" fmla="val 11429"/>
            </a:avLst>
          </a:prstGeom>
          <a:solidFill>
            <a:srgbClr val="2A2038"/>
          </a:solidFill>
          <a:ln w="25400">
            <a:solidFill>
              <a:srgbClr val="A07FD6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Backend LLM</a:t>
            </a:r>
            <a:endParaRPr lang="en-US" sz="11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nemotron-3-ultra, reasoning 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874520" y="1920240"/>
            <a:ext cx="365760" cy="0"/>
          </a:xfrm>
          <a:prstGeom prst="line">
            <a:avLst/>
          </a:prstGeom>
          <a:noFill/>
          <a:ln w="25400">
            <a:solidFill>
              <a:srgbClr val="D6D5CD"/>
            </a:solidFill>
            <a:prstDash val="solid"/>
            <a:headEnd type="triangl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828800" y="16459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WS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74520" y="4343400"/>
            <a:ext cx="365760" cy="0"/>
          </a:xfrm>
          <a:prstGeom prst="line">
            <a:avLst/>
          </a:prstGeom>
          <a:noFill/>
          <a:ln w="25400">
            <a:solidFill>
              <a:srgbClr val="D6D5CD"/>
            </a:solidFill>
            <a:prstDash val="solid"/>
            <a:headEnd type="triangl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995160" y="3200400"/>
            <a:ext cx="365760" cy="0"/>
          </a:xfrm>
          <a:prstGeom prst="line">
            <a:avLst/>
          </a:prstGeom>
          <a:noFill/>
          <a:ln w="25400">
            <a:solidFill>
              <a:srgbClr val="D6D5CD"/>
            </a:solidFill>
            <a:prstDash val="solid"/>
            <a:headEnd type="triangl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6949440" y="2926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WS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738360" y="3200400"/>
            <a:ext cx="365760" cy="0"/>
          </a:xfrm>
          <a:prstGeom prst="line">
            <a:avLst/>
          </a:prstGeom>
          <a:noFill/>
          <a:ln w="25400">
            <a:solidFill>
              <a:srgbClr val="D6D5CD"/>
            </a:solidFill>
            <a:prstDash val="solid"/>
            <a:headEnd type="triangl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9646920" y="2926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socket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17720" y="5715000"/>
            <a:ext cx="0" cy="320040"/>
          </a:xfrm>
          <a:prstGeom prst="line">
            <a:avLst/>
          </a:prstGeom>
          <a:noFill/>
          <a:ln w="25400">
            <a:solidFill>
              <a:srgbClr val="D6D5CD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972800" y="5715000"/>
            <a:ext cx="0" cy="320040"/>
          </a:xfrm>
          <a:prstGeom prst="line">
            <a:avLst/>
          </a:prstGeom>
          <a:noFill/>
          <a:ln w="25400">
            <a:solidFill>
              <a:srgbClr val="D6D5CD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995160" y="5212080"/>
            <a:ext cx="365760" cy="0"/>
          </a:xfrm>
          <a:prstGeom prst="line">
            <a:avLst/>
          </a:prstGeom>
          <a:noFill/>
          <a:ln w="25400">
            <a:solidFill>
              <a:srgbClr val="D6D5CD"/>
            </a:solidFill>
            <a:prstDash val="dash"/>
            <a:headEnd type="triangl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738360" y="5212080"/>
            <a:ext cx="365760" cy="0"/>
          </a:xfrm>
          <a:prstGeom prst="line">
            <a:avLst/>
          </a:prstGeom>
          <a:noFill/>
          <a:ln w="25400">
            <a:solidFill>
              <a:srgbClr val="D6D5CD"/>
            </a:solidFill>
            <a:prstDash val="dash"/>
            <a:headEnd type="triangl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874520" y="4754880"/>
            <a:ext cx="365760" cy="0"/>
          </a:xfrm>
          <a:prstGeom prst="line">
            <a:avLst/>
          </a:prstGeom>
          <a:noFill/>
          <a:ln w="25400">
            <a:solidFill>
              <a:srgbClr val="D6D5CD"/>
            </a:solidFill>
            <a:prstDash val="dash"/>
            <a:headEnd type="triangl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320040" y="6035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Solid: main path.  </a:t>
            </a:r>
            <a:pPr indent="0" marL="0">
              <a:buNone/>
            </a:pPr>
            <a:r>
              <a:rPr lang="en-US" sz="95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Dashed: tool round trip (worker → gateway → voice server → client function_call, and function_call_output back).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Appendix: frontend action vs. backend state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The frontend calls delegate() every turn; the gateway classifies it against a settled state to pick the Hermes action.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560320"/>
                <a:gridCol w="2926080"/>
                <a:gridCol w="3291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User turn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NO_SESSION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IDLE (mid-conversation)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WORKING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New task or follow-up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(filler spoken, delegate)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New AIAgent(new_id)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run_conversation() continues the session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steer() or redirect(): redirect during a model call, otherwise steer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Asks for updates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(request=status)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Starts a new session with the query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Follow-up run_conversation()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get_activity_summary(); the task is not disturbed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Acknowledges the filler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(okay, thanks)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Frontend answers directly or stays silent; nothing is delegated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720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2A2B2D"/>
          </a:solidFill>
          <a:ln w="25400">
            <a:solidFill>
              <a:srgbClr val="8F8E8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NO_SESSION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291840" y="457200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16283D"/>
          </a:solidFill>
          <a:ln w="25400">
            <a:solidFill>
              <a:srgbClr val="3987E5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IDLE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852160" y="457200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3A2418"/>
          </a:solidFill>
          <a:ln w="25400">
            <a:solidFill>
              <a:srgbClr val="D9592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WORKING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03920" y="457200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2A2B2D"/>
          </a:solidFill>
          <a:ln w="25400">
            <a:solidFill>
              <a:srgbClr val="8F8E8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CLOSING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424160" y="45720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2A2B2D"/>
          </a:solidFill>
          <a:ln w="25400">
            <a:solidFill>
              <a:srgbClr val="8F8E8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CLOSED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377440" y="4892040"/>
            <a:ext cx="914400" cy="0"/>
          </a:xfrm>
          <a:prstGeom prst="line">
            <a:avLst/>
          </a:prstGeom>
          <a:noFill/>
          <a:ln w="25400">
            <a:solidFill>
              <a:srgbClr val="D6D5CD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2331720" y="45262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delegate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4800600"/>
            <a:ext cx="1097280" cy="0"/>
          </a:xfrm>
          <a:prstGeom prst="line">
            <a:avLst/>
          </a:prstGeom>
          <a:noFill/>
          <a:ln w="25400">
            <a:solidFill>
              <a:srgbClr val="D6D5CD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4754880" y="4480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delegate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 flipH="1">
            <a:off x="4754880" y="5029200"/>
            <a:ext cx="1097280" cy="0"/>
          </a:xfrm>
          <a:prstGeom prst="line">
            <a:avLst/>
          </a:prstGeom>
          <a:noFill/>
          <a:ln w="25400">
            <a:solidFill>
              <a:srgbClr val="D6D5CD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4754880" y="52303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run settles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589520" y="4892040"/>
            <a:ext cx="914400" cy="0"/>
          </a:xfrm>
          <a:prstGeom prst="line">
            <a:avLst/>
          </a:prstGeom>
          <a:noFill/>
          <a:ln w="25400">
            <a:solidFill>
              <a:srgbClr val="D6D5CD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7589520" y="4526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close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966960" y="4892040"/>
            <a:ext cx="457200" cy="0"/>
          </a:xfrm>
          <a:prstGeom prst="line">
            <a:avLst/>
          </a:prstGeom>
          <a:noFill/>
          <a:ln w="25400">
            <a:solidFill>
              <a:srgbClr val="D6D5CD"/>
            </a:solidFill>
            <a:prstDash val="solid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5486400" y="4069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steer · redirect · status keep the state WORKING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5669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Worker died or watchdog (330 s): the worker is respawned from controller state, the run's history is rolled back; at most 2 respawns per session.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Appendix: one delegated turn, end to 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16283D"/>
          </a:solidFill>
          <a:ln w="19050">
            <a:solidFill>
              <a:srgbClr val="3987E5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Speech in</a:t>
            </a:r>
            <a:endParaRPr lang="en-US" sz="15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Client streams audio; VAD ends the turn after 800 ms; Riva ASR transcribes; spelled letters are joined.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560320" y="1371600"/>
            <a:ext cx="411480" cy="411480"/>
          </a:xfrm>
          <a:prstGeom prst="ellipse">
            <a:avLst/>
          </a:prstGeom>
          <a:solidFill>
            <a:srgbClr val="3987E5"/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0" y="12801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16283D"/>
          </a:solidFill>
          <a:ln w="19050">
            <a:solidFill>
              <a:srgbClr val="3987E5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Frontend decides</a:t>
            </a:r>
            <a:endParaRPr lang="en-US" sz="15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One forced delegate() call (hedged at 1.5 s, repaired once). New speech cancels it and merges into the next turn.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394960" y="1371600"/>
            <a:ext cx="411480" cy="411480"/>
          </a:xfrm>
          <a:prstGeom prst="ellipse">
            <a:avLst/>
          </a:prstGeom>
          <a:solidFill>
            <a:srgbClr val="3987E5"/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12801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16283D"/>
          </a:solidFill>
          <a:ln w="19050">
            <a:solidFill>
              <a:srgbClr val="3987E5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Filler + delegate</a:t>
            </a:r>
            <a:endParaRPr lang="en-US" sz="15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The filler is spoken at once via TTS; the turn goes to the gateway as delegate(turn_id, request, run_input).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0" y="1371600"/>
            <a:ext cx="411480" cy="411480"/>
          </a:xfrm>
          <a:prstGeom prst="ellipse">
            <a:avLst/>
          </a:prstGeom>
          <a:solidFill>
            <a:srgbClr val="3987E5"/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0" y="12801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13302A"/>
          </a:solidFill>
          <a:ln w="19050">
            <a:solidFill>
              <a:srgbClr val="2BB583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Gateway acts</a:t>
            </a:r>
            <a:endParaRPr lang="en-US" sz="15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Controller settles the last run, renders queued context, sends run, steer, redirect or status to the worker.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064240" y="1371600"/>
            <a:ext cx="411480" cy="411480"/>
          </a:xfrm>
          <a:prstGeom prst="ellipse">
            <a:avLst/>
          </a:prstGeom>
          <a:solidFill>
            <a:srgbClr val="2BB583"/>
          </a:solidFill>
          <a:ln w="12700">
            <a:solidFill>
              <a:srgbClr val="2BB5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642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3A2418"/>
          </a:solidFill>
          <a:ln w="19050">
            <a:solidFill>
              <a:srgbClr val="D95926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Hermes reasons</a:t>
            </a:r>
            <a:endParaRPr lang="en-US" sz="15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AIAgent runs with nemotron-3-ultra and calls session tools; each call blocks in ToolFutures.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560320" y="4023360"/>
            <a:ext cx="411480" cy="411480"/>
          </a:xfrm>
          <a:prstGeom prst="ellipse">
            <a:avLst/>
          </a:prstGeom>
          <a:solidFill>
            <a:srgbClr val="D95926"/>
          </a:solidFill>
          <a:ln w="12700">
            <a:solidFill>
              <a:srgbClr val="D959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39319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13302A"/>
          </a:solidFill>
          <a:ln w="19050">
            <a:solidFill>
              <a:srgbClr val="2BB583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Tool round trip</a:t>
            </a:r>
            <a:endParaRPr lang="en-US" sz="15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tool.call goes to the client as a function_call; the output returns with a recovery note on a failed lookup.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394960" y="4023360"/>
            <a:ext cx="411480" cy="411480"/>
          </a:xfrm>
          <a:prstGeom prst="ellipse">
            <a:avLst/>
          </a:prstGeom>
          <a:solidFill>
            <a:srgbClr val="2BB583"/>
          </a:solidFill>
          <a:ln w="12700">
            <a:solidFill>
              <a:srgbClr val="2BB5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39319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16283D"/>
          </a:solidFill>
          <a:ln w="19050">
            <a:solidFill>
              <a:srgbClr val="3987E5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Progress</a:t>
            </a:r>
            <a:endParaRPr lang="en-US" sz="15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While WORKING, activity is kept for the frontend's next decision; M1 may speak one proactive line after 15 s of silence.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29600" y="4023360"/>
            <a:ext cx="411480" cy="411480"/>
          </a:xfrm>
          <a:prstGeom prst="ellipse">
            <a:avLst/>
          </a:prstGeom>
          <a:solidFill>
            <a:srgbClr val="3987E5"/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0" y="39319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3A2418"/>
          </a:solidFill>
          <a:ln w="19050">
            <a:solidFill>
              <a:srgbClr val="D95926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Answer spoken</a:t>
            </a:r>
            <a:endParaRPr lang="en-US" sz="15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run_outcome commits history; the answer is cleaned (G2) and spoken, recording heard, partial or not_heard.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1064240" y="4023360"/>
            <a:ext cx="411480" cy="411480"/>
          </a:xfrm>
          <a:prstGeom prst="ellipse">
            <a:avLst/>
          </a:prstGeom>
          <a:solidFill>
            <a:srgbClr val="D95926"/>
          </a:solidFill>
          <a:ln w="12700">
            <a:solidFill>
              <a:srgbClr val="D959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06424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Lane colour:  </a:t>
            </a:r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blue = voice server · green = gateway · orange = Hermes worker / output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Appendix: process boundaries and message contract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One validated contract, backend/protocol.py (v: 1, stdlib only), is shared by the Py 3.12 and Py 3.14 processes.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468880"/>
                <a:gridCol w="6492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Link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Transport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Messages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client ⇄ voice server</a:t>
                      </a:r>
                      <a:endParaRPr lang="en-US" sz="11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WS, OpenAI Realtime GA</a:t>
                      </a:r>
                      <a:endParaRPr lang="en-US" sz="11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audio, session.update, function_call, function_call_output</a:t>
                      </a:r>
                      <a:endParaRPr lang="en-US" sz="11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voice → gateway</a:t>
                      </a:r>
                      <a:endParaRPr lang="en-US" sz="11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WS /v1/backend</a:t>
                      </a:r>
                      <a:endParaRPr lang="en-US" sz="11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session.open, session.configure, history.append, delegate, tool.result, session.close</a:t>
                      </a:r>
                      <a:endParaRPr lang="en-US" sz="11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gateway → voice</a:t>
                      </a:r>
                      <a:endParaRPr lang="en-US" sz="11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same WebSocket</a:t>
                      </a:r>
                      <a:endParaRPr lang="en-US" sz="11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session.ready, session.configured, history.ack, state, action, tool.call, tool.cancel, activity, answer, backend_run_done, status, worker, error</a:t>
                      </a:r>
                      <a:endParaRPr lang="en-US" sz="11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gateway → worker</a:t>
                      </a:r>
                      <a:endParaRPr lang="en-US" sz="11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Unix socket, JSON lines</a:t>
                      </a:r>
                      <a:endParaRPr lang="en-US" sz="11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configure, run, steer, redirect, status, tool.result, interrupt, close</a:t>
                      </a:r>
                      <a:endParaRPr lang="en-US" sz="11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worker → gateway</a:t>
                      </a:r>
                      <a:endParaRPr lang="en-US" sz="11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same socket</a:t>
                      </a:r>
                      <a:endParaRPr lang="en-US" sz="11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ready, configured, steer_result, status_result, tool.call, tool.cancel, activity, run_outcome, closed, error</a:t>
                      </a:r>
                      <a:endParaRPr lang="en-US" sz="11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Run statuses: ok, failed, interrupted, error, deadline, worker_died, closed. Only ok, failed and interrupted commit history.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E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Appendix: module map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6858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Path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Runs in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Role</a:t>
                      </a:r>
                      <a:endParaRPr lang="en-US" sz="13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server.py, config.py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voice server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entry point, config and profile loading, SessionHooks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engine/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voice server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turn_manager, transcript, output_scheduler, backend_link, spelling_hold, spoken_text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frontend/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voice server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delegate_tool, decider, status_verbalizer, prompts, llm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tools/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voice server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relay (tool batches, normalization), result_hints (I3/I4)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backend/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all (stdlib only)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protocol, writer, controller, context_queue, agent_like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sidecar/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gateway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gateway_server, session_runtime, worker_pool, homes, templates, inprocess_link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worker/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Hermes worker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worker_main, worker_core, tool_futures, hermes_adapter, fake_host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2EE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cli/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tools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2B7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delegation_replay, backend_probe, report_adapter, fingerprint_check, spelling_hold_replay</a:t>
                      </a:r>
                      <a:endParaRPr lang="en-US" sz="12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035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2B7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Docs: prototype-plan.md · runbook.md · workflow.csv · tau3-failure-fixes-plan.md · tau3-identity-fixes-plan.md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Frontend Delegation to a Hermes Backend: architecture</dc:title>
  <dc:subject>PptxGenJS Presentation</dc:subject>
  <dc:creator>PptxGenJS</dc:creator>
  <cp:lastModifiedBy>PptxGenJS</cp:lastModifiedBy>
  <cp:revision>1</cp:revision>
  <dcterms:created xsi:type="dcterms:W3CDTF">2026-10-05T15:41:36Z</dcterms:created>
  <dcterms:modified xsi:type="dcterms:W3CDTF">2026-10-05T15:41:36Z</dcterms:modified>
</cp:coreProperties>
</file>